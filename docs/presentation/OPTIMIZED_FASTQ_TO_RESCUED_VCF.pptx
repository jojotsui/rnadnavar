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1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04" autoAdjust="0"/>
    <p:restoredTop sz="96327"/>
  </p:normalViewPr>
  <p:slideViewPr>
    <p:cSldViewPr snapToGrid="0">
      <p:cViewPr varScale="1">
        <p:scale>
          <a:sx n="147" d="100"/>
          <a:sy n="147" d="100"/>
        </p:scale>
        <p:origin x="1616" y="4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876-8DC6-4013-B51B-C45E824A1197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5FC67-1524-443F-98B3-441ED6B350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409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This talk explains the labeling pipeline, not caller internals.</a:t>
            </a:r>
          </a:p>
          <a:p>
            <a:pPr>
              <a:defRPr sz="1200"/>
            </a:pPr>
            <a:r>
              <a:t>- The key goal is traceability: each final FILTER label can be traced to upstream evidence.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本次汇报重点是标签如何生成，而不是各个 caller 的算法细节。</a:t>
            </a:r>
          </a:p>
          <a:p>
            <a:pPr>
              <a:defRPr sz="1200"/>
            </a:pPr>
            <a:r>
              <a:t>- 核心目标是可追溯：最终 FILTER 标签都能追溯到上游证据。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Status labels define modality and downstream routing.</a:t>
            </a:r>
          </a:p>
          <a:p>
            <a:pPr>
              <a:defRPr sz="1200"/>
            </a:pPr>
            <a:r>
              <a:t>- DNA and RNA are processed in parallel and converge in rescue.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status 标签决定样本所属模态及后续流程路由。</a:t>
            </a:r>
          </a:p>
          <a:p>
            <a:pPr>
              <a:defRPr sz="1200"/>
            </a:pPr>
            <a:r>
              <a:t>- DNA 与 RNA 并行处理，并在 rescue 阶段汇合。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Use this figure to orient the audience from raw FASTQ to final VCF.</a:t>
            </a:r>
          </a:p>
          <a:p>
            <a:pPr>
              <a:defRPr sz="1200"/>
            </a:pPr>
            <a:r>
              <a:t>- Consensus happens within modality; rescue happens across modalities.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此图用于展示从 FASTQ 到最终 VCF 的全流程。</a:t>
            </a:r>
          </a:p>
          <a:p>
            <a:pPr>
              <a:defRPr sz="1200"/>
            </a:pPr>
            <a:r>
              <a:t>- consensus 是模态内整合，rescue 是跨模态整合。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Each caller output is normalized to the same biological label space.</a:t>
            </a:r>
          </a:p>
          <a:p>
            <a:pPr>
              <a:defRPr sz="1200"/>
            </a:pPr>
            <a:r>
              <a:t>- This standardization enables voting across heterogeneous callers.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每个 caller 的输出都会先标准化到统一的生物学标签空间。</a:t>
            </a:r>
          </a:p>
          <a:p>
            <a:pPr>
              <a:defRPr sz="1200"/>
            </a:pPr>
            <a:r>
              <a:t>- 只有先标准化，后续 consensus 投票才可比较。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Consensus converts multiple caller labels to one modality-level label.</a:t>
            </a:r>
          </a:p>
          <a:p>
            <a:pPr>
              <a:defRPr sz="1200"/>
            </a:pPr>
            <a:r>
              <a:t>- Tie means disagreement and is intentionally labeled Artifact.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consensus 将多个 caller 标签汇总为一个模态级标签。</a:t>
            </a:r>
          </a:p>
          <a:p>
            <a:pPr>
              <a:defRPr sz="1200"/>
            </a:pPr>
            <a:r>
              <a:t>- 并列代表不一致，因此标记为 Artifact。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Rescue integrates modality-level evidence, not raw FASTQ directly.</a:t>
            </a:r>
          </a:p>
          <a:p>
            <a:pPr>
              <a:defRPr sz="1200"/>
            </a:pPr>
            <a:r>
              <a:t>- Support counts from individual callers control conflict handling.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rescue 结合的是模态级证据，而不是直接从 FASTQ 判定。</a:t>
            </a:r>
          </a:p>
          <a:p>
            <a:pPr>
              <a:defRPr sz="1200"/>
            </a:pPr>
            <a:r>
              <a:t>- 冲突处理由各模态支持数控制，是 support-aware 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For this audience, final interpretation is focused on three categories.</a:t>
            </a:r>
          </a:p>
          <a:p>
            <a:pPr>
              <a:defRPr sz="1200"/>
            </a:pPr>
            <a:r>
              <a:t>- Other internal classes exist but are not the focus of this deck.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本次演示只聚焦最终解释最常用的三类 FILTER。</a:t>
            </a:r>
          </a:p>
          <a:p>
            <a:pPr>
              <a:defRPr sz="1200"/>
            </a:pPr>
            <a:r>
              <a:t>- 其他内部类别存在，但不作为本次重点。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400"/>
            </a:pPr>
            <a:r>
              <a:t>EN</a:t>
            </a:r>
          </a:p>
          <a:p>
            <a:pPr>
              <a:defRPr sz="1200"/>
            </a:pPr>
            <a:r>
              <a:t>- This is the summary chain from raw data to final label.</a:t>
            </a:r>
          </a:p>
          <a:p>
            <a:pPr>
              <a:defRPr sz="1200"/>
            </a:pPr>
            <a:r>
              <a:t>- The message is consistency and traceability across stages.</a:t>
            </a:r>
          </a:p>
          <a:p/>
          <a:p>
            <a:pPr>
              <a:defRPr sz="1400"/>
            </a:pPr>
            <a:r>
              <a:t>中文</a:t>
            </a:r>
          </a:p>
          <a:p>
            <a:pPr>
              <a:defRPr sz="1200"/>
            </a:pPr>
            <a:r>
              <a:t>- 该页总结了从原始数据到最终标签的完整链路。</a:t>
            </a:r>
          </a:p>
          <a:p>
            <a:pPr>
              <a:defRPr sz="1200"/>
            </a:pPr>
            <a:r>
              <a:t>- 核心信息是各阶段标签定义一致且可追溯。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欢迎了解 rnadnavar 分析流程。</a:t>
            </a:r>
          </a:p>
          <a:p>
            <a:r>
              <a:t>本简报将带您鸟瞰从原始测序数据（FASTQ）到最终变异标记（Labeled VCF FILTER）的全过程。</a:t>
            </a:r>
          </a:p>
          <a:p>
            <a:r>
              <a:t>我们将把原始的详细步骤精简为核心的三大环节：变异检测原理、组学内部共识（Consensus）与跨组学拯救（Rescue），为您提供清晰的全景视图。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如图所示，这是整个数据处理的完整流程图。</a:t>
            </a:r>
          </a:p>
          <a:p>
            <a:r>
              <a:t>1. 数据流分为并行处理的 DNA 和 RNA 两条主线。</a:t>
            </a:r>
          </a:p>
          <a:p>
            <a:r>
              <a:t>2. 数据经过高质量的比对（Alignment）后，交由多种检测器（如 DeepSomatic）进行变异检测（Variant Calling）。</a:t>
            </a:r>
          </a:p>
          <a:p>
            <a:r>
              <a:t>3. 接着，基于投票机制生成单组学共识（Modality Consensus）。</a:t>
            </a:r>
          </a:p>
          <a:p>
            <a:r>
              <a:t>4. 最后，在 Rescue 阶段进行跨组学相互印证和融合，输出最终的高可信 VCF 过滤标签。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本页详细说明了单组学内部的数据处理逻辑。</a:t>
            </a:r>
          </a:p>
          <a:p>
            <a:r>
              <a:t>首先，各检测软件（如 DeepSomatic, Mutect2 和 Strelka）根据其独有的算法生成基础的突变分类标签。</a:t>
            </a:r>
          </a:p>
          <a:p>
            <a:r>
              <a:t>接着，系统会对这些标签进行汇总，即“共识（Consensus）”阶段：系统基于同类归一化后的变异进行多数投票。</a:t>
            </a:r>
          </a:p>
          <a:p>
            <a:r>
              <a:t>只有满足最低支持软件数量（例如至少2个软件支持）的突变才会获得有效共识标签。若各软件意见平局或不明确，为了严谨起见，通常会被保守标记为 Artifact（假阳性/伪影）。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跨组学拯救（Rescue）是流程的最高决断阶段。</a:t>
            </a:r>
          </a:p>
          <a:p>
            <a:r>
              <a:t>在此阶段，系统比对 DNA 与 RNA 的共识结果。如果双方一致，突变可信度极高；如果不一致，算法会基于多维度证据支持度进行高级决策（可结合可选的 RNA 二次比对进行补充拯救）。</a:t>
            </a:r>
          </a:p>
          <a:p>
            <a:r>
              <a:t>最终，变异结果会被清晰、精准地分类输出在 VCF 文件的 FILTER 列中：</a:t>
            </a:r>
          </a:p>
          <a:p>
            <a:r>
              <a:t>1. Somatic (体细胞突变)</a:t>
            </a:r>
          </a:p>
          <a:p>
            <a:r>
              <a:t>2. Germline (生殖细胞突变)</a:t>
            </a:r>
          </a:p>
          <a:p>
            <a:r>
              <a:t>3. Reference (参考集/非突变)</a:t>
            </a:r>
          </a:p>
          <a:p>
            <a:r>
              <a:t>极大降低了人工复核的复杂度。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87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1523"/>
            <a:ext cx="8100412" cy="48687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759125"/>
            <a:ext cx="8100412" cy="3873599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CC17-8B2E-E696-E879-76BDFEFB7A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511" y="36026"/>
            <a:ext cx="330735" cy="341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612A3D-FCCE-D2CB-6CB2-6AAFB34C2C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39" y="43538"/>
            <a:ext cx="338328" cy="3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7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4270"/>
            <a:ext cx="8100412" cy="48687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4F3500-15A2-83BE-4CAB-1F85B2F4CD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511" y="36026"/>
            <a:ext cx="330735" cy="341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3C310-6B4F-90D0-50B4-067D049A35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39" y="43538"/>
            <a:ext cx="338328" cy="3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0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412557-B4F7-3800-FB32-7CD827B0A7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2511" y="36026"/>
            <a:ext cx="330735" cy="3410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E332A8-C2E0-8B16-C204-535C151BC3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39" y="43538"/>
            <a:ext cx="338328" cy="3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1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74858"/>
            <a:ext cx="7886700" cy="486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891348"/>
            <a:ext cx="7886700" cy="3741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B8323-580C-4D10-B58A-7350944B0A1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BC872-353C-41FE-8C5C-3D24F8FFED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7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3" r:id="rId4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002060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rnadnavar: From FASTQ to Labeled FILTER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variant classifications are derived from raw inputs to final VCF FILTER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rnadnavar Workflow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status 0: DNA normal (COO8801DN)</a:t>
            </a:r>
          </a:p>
          <a:p>
            <a:pPr>
              <a:defRPr sz="2200"/>
            </a:pPr>
            <a:r>
              <a:t>status 1: DNA tumor (COO8801DT)</a:t>
            </a:r>
          </a:p>
          <a:p>
            <a:pPr>
              <a:defRPr sz="2200"/>
            </a:pPr>
            <a:r>
              <a:t>status 2: RNA tumor (COO8801RT)</a:t>
            </a:r>
          </a:p>
          <a:p>
            <a:pPr>
              <a:defRPr sz="2200"/>
            </a:pPr>
            <a:r>
              <a:t>Flow: FASTQ -&gt; alignment -&gt; calling -&gt; consensus -&gt; rescue -&gt; final FILTER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1) rnadnavar Workflow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rnadnavar_schema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7760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DNA and RNA paths run in parallel, then cross over in rescue; optional RNA realignment enables second rescue.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How Per-Caller Labels Are Produced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DeepSomatic FILTER -&gt; Somatic/Germline/Reference/Artifact</a:t>
            </a:r>
          </a:p>
          <a:p>
            <a:pPr>
              <a:defRPr sz="2200"/>
            </a:pPr>
            <a:r>
              <a:t>Mutect2 FILTER -&gt; Somatic/Germline/Reference/Artifact</a:t>
            </a:r>
          </a:p>
          <a:p>
            <a:pPr>
              <a:defRPr sz="2200"/>
            </a:pPr>
            <a:r>
              <a:t>Strelka FILTER + NT + normal depth -&gt; biological class</a:t>
            </a:r>
          </a:p>
          <a:p>
            <a:pPr>
              <a:defRPr sz="2200"/>
            </a:pPr>
            <a:r>
              <a:t>These per-caller classes are the inputs to consensus labeling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Within-Modality Consensus Logics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Group same variant by normalized key within one modality</a:t>
            </a:r>
          </a:p>
          <a:p>
            <a:pPr>
              <a:defRPr sz="2200"/>
            </a:pPr>
            <a:r>
              <a:t>Apply thresholds: SNV 2, indel 2 (this run)</a:t>
            </a:r>
          </a:p>
          <a:p>
            <a:pPr>
              <a:defRPr sz="2200"/>
            </a:pPr>
            <a:r>
              <a:t>Clear majority across callers -&gt; consensus label</a:t>
            </a:r>
          </a:p>
          <a:p>
            <a:pPr>
              <a:defRPr sz="2200"/>
            </a:pPr>
            <a:r>
              <a:t>Top-class tie -&gt; Artifact; below threshold -&gt; NoConsensus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Cross-Modality Rescue Logics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Combine DNA and RNA consensus labels for each variant</a:t>
            </a:r>
          </a:p>
          <a:p>
            <a:pPr>
              <a:defRPr sz="2200"/>
            </a:pPr>
            <a:r>
              <a:t>If labels agree -&gt; keep label; if disagree -&gt; support-aware decision</a:t>
            </a:r>
          </a:p>
          <a:p>
            <a:pPr>
              <a:defRPr sz="2200"/>
            </a:pPr>
            <a:r>
              <a:t>One-modality consensus can still label variant when supported</a:t>
            </a:r>
          </a:p>
          <a:p>
            <a:pPr>
              <a:defRPr sz="2200"/>
            </a:pPr>
            <a:r>
              <a:t>Optional second rescue uses realigned RNA consensus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Final VCF FILTER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Somatic: final label indicates likely somatic variant</a:t>
            </a:r>
          </a:p>
          <a:p>
            <a:pPr>
              <a:defRPr sz="2200"/>
            </a:pPr>
            <a:r>
              <a:t>Germline: final label indicates likely inherited variant</a:t>
            </a:r>
          </a:p>
          <a:p>
            <a:pPr>
              <a:defRPr sz="2200"/>
            </a:pPr>
            <a:r>
              <a:t>Reference: final label indicates non-variant/reference-like evidence</a:t>
            </a:r>
          </a:p>
          <a:p>
            <a:pPr>
              <a:defRPr sz="2200"/>
            </a:pPr>
            <a:r>
              <a:t>Presentation scope intentionally shows only these three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Traceability: FASTQ to Final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Input status labels define modality routing</a:t>
            </a:r>
          </a:p>
          <a:p>
            <a:pPr>
              <a:defRPr sz="2200"/>
            </a:pPr>
            <a:r>
              <a:t>Per-caller mapping creates normalized biological labels</a:t>
            </a:r>
          </a:p>
          <a:p>
            <a:pPr>
              <a:defRPr sz="2200"/>
            </a:pPr>
            <a:r>
              <a:t>Consensus and rescue propagate and resolve labels</a:t>
            </a:r>
          </a:p>
          <a:p>
            <a:pPr>
              <a:defRPr sz="2200"/>
            </a:pPr>
            <a:r>
              <a:t>Final VCF FILTER stores the unified final classification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rnadnavar: From FASTQ to Labeled FILTER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Optimized Variant Classification Workflow</a:t>
            </a:r>
          </a:p>
          <a:p>
            <a:r>
              <a:t>End-to-End Tracking and Rescue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Arial"/>
              </a:defRPr>
            </a:pPr>
            <a:r>
              <a:t>End-to-End Workflow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4572000" cy="7315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1. Input FASTQ</a:t>
            </a:r>
          </a:p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(Status 0, 1, 2)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34840" y="2148840"/>
            <a:ext cx="27432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2377440"/>
            <a:ext cx="4572000" cy="7315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2. Alignment &amp; Preprocessing</a:t>
            </a:r>
          </a:p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(DNA/RNA Parallel Tracks)</a:t>
            </a:r>
          </a:p>
        </p:txBody>
      </p:sp>
      <p:sp>
        <p:nvSpPr>
          <p:cNvPr id="6" name="Down Arrow 5"/>
          <p:cNvSpPr/>
          <p:nvPr/>
        </p:nvSpPr>
        <p:spPr>
          <a:xfrm>
            <a:off x="4434840" y="3154680"/>
            <a:ext cx="27432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3383280"/>
            <a:ext cx="4572000" cy="7315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3. Variant Calling</a:t>
            </a:r>
          </a:p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(DeepSomatic, Mutect2, Strelka)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434840" y="4160520"/>
            <a:ext cx="27432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86000" y="4389120"/>
            <a:ext cx="4572000" cy="7315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4. Within-Modality Consensus</a:t>
            </a:r>
          </a:p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(Voting &amp; Filtering)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34840" y="5166360"/>
            <a:ext cx="27432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86000" y="5394960"/>
            <a:ext cx="4572000" cy="7315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5. Cross-Modality Rescue</a:t>
            </a:r>
          </a:p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(DNA &amp; RNA Integration)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434840" y="6172200"/>
            <a:ext cx="274320" cy="18288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6400800"/>
            <a:ext cx="4572000" cy="731520"/>
          </a:xfrm>
          <a:prstGeom prst="roundRect">
            <a:avLst/>
          </a:prstGeom>
          <a:solidFill>
            <a:srgbClr val="E6F0FA"/>
          </a:solidFill>
          <a:ln w="19050">
            <a:solidFill>
              <a:srgbClr val="004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6. Final VCF Labeled FILTER</a:t>
            </a:r>
          </a:p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(Somatic, Germline, Reference)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Arial"/>
              </a:defRPr>
            </a:pPr>
            <a:r>
              <a:t>Variant Calling &amp; Consensus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Per-Caller Classification Mapping: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DeepSomatic &amp; Mutect2 map direct filters to Somatic/Germline/Artifact.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Strelka uses normal tier (NT) and read depths to derive biological class.</a:t>
            </a:r>
          </a:p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Within-Modality Consensus (Voting):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Variants are grouped by normalized keys separately in DNA/RNA tracks.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Strict thresholds applied (e.g., SNV ≥ 2, Indel ≥ 2 valid caller support).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A clear majority establishes the label; ties default to 'Artifact'.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>
                <a:solidFill>
                  <a:srgbClr val="003366"/>
                </a:solidFill>
                <a:latin typeface="Arial"/>
              </a:defRPr>
            </a:pPr>
            <a:r>
              <a:t>Cross-Modality Rescue &amp; Final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Cross-Modality Integration (Rescue):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Combines DNA and RNA consensus labels on a per-variant basis.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Agreeing labels validate the variant strongly.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Conflicting labels undergo a support-aware resolution algorithm.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Optional second rescue phase uses newly realigned RNA data.</a:t>
            </a:r>
          </a:p>
          <a:p>
            <a:pPr>
              <a:defRPr sz="2200">
                <a:solidFill>
                  <a:srgbClr val="333333"/>
                </a:solidFill>
                <a:latin typeface="Arial"/>
              </a:defRPr>
            </a:pPr>
            <a:r>
              <a:t>Final VCF FILTER Categories Delivered: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Somatic: High-confidence acquired tumor mutations.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Germline: Highly likely inherited variants.</a:t>
            </a:r>
          </a:p>
          <a:p>
            <a:pPr lvl="1">
              <a:defRPr sz="1800">
                <a:solidFill>
                  <a:srgbClr val="333333"/>
                </a:solidFill>
                <a:latin typeface="Arial"/>
              </a:defRPr>
            </a:pPr>
            <a:r>
              <a:t>Reference: Insufficient variant evidence or reference-like state.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9363</TotalTime>
  <Words>36</Words>
  <Application>Microsoft Macintosh PowerPoint</Application>
  <PresentationFormat>On-screen Show (16:9)</PresentationFormat>
  <Paragraphs>16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Microsoft YaHei</vt:lpstr>
      <vt:lpstr>Microsoft YaHei</vt:lpstr>
      <vt:lpstr>Agency FB</vt:lpstr>
      <vt:lpstr>Arial</vt:lpstr>
      <vt:lpstr>Calibri</vt:lpstr>
      <vt:lpstr>Office 主题</vt:lpstr>
      <vt:lpstr>The 5th Paradigm: Agent-driven Life Science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商业融资计划书ppt模板</dc:title>
  <dc:subject> </dc:subject>
  <dc:creator>极简办公</dc:creator>
  <cp:keywords>www.jjppt.com</cp:keywords>
  <dc:description>www.jjppt.com</dc:description>
  <cp:lastModifiedBy>Xiaolin Andy Li</cp:lastModifiedBy>
  <cp:revision>482</cp:revision>
  <cp:lastPrinted>2024-10-17T13:17:52Z</cp:lastPrinted>
  <dcterms:created xsi:type="dcterms:W3CDTF">2018-09-01T05:52:16Z</dcterms:created>
  <dcterms:modified xsi:type="dcterms:W3CDTF">2026-03-10T12:40:48Z</dcterms:modified>
  <cp:category> </cp:category>
  <cp:contentStatus> </cp:contentStatus>
  <cp:version>1</cp:version>
</cp:coreProperties>
</file>